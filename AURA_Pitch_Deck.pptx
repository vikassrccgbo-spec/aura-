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8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9EA2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C64-403E-B42F-86882F1674EA}"/>
              </c:ext>
            </c:extLst>
          </c:dPt>
          <c:dPt>
            <c:idx val="1"/>
            <c:invertIfNegative val="0"/>
            <c:bubble3D val="0"/>
            <c:spPr>
              <a:solidFill>
                <a:srgbClr val="0A78C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C64-403E-B42F-86882F1674E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0E0D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Manual, today</c:v>
                </c:pt>
                <c:pt idx="1">
                  <c:v>With AURA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C64-403E-B42F-86882F1674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371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1744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product name and the one-line promise: AURA connects the knowledge scattered across a plant and surfaces what no single team can see. Mention this is a working prototype, not a mockup.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each number with a pause. The point at the bottom is the thesis: this is a connection problem, not a storage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consequences. Keep it tight — these set up why the example on the next slide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pitch. Walk the timeline, then the scattered clues, then the punchline. This is the exact scenario the live demo solves.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capabilities, left to right = the pipeline. This previews the architecture and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money moment. Switch the prototype to Demo mode before recording so it is instant. Click the Q2 chip, then read the connected-across banner aloud. Linger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the Misalignment node live. This is your most memorable visual — let it breathe.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sources, ingest and understand, the brain, agents, the people. Point to the scalability ribbon top-right.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judges this is real. Mention live-AI mode answers novel questions; demo mode guarantees the recording.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Translate the demo into money and risk. The numbers are illustrative but grounded in the example. Adjust figures to your judges' context if you 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 the 'does it scale' question. Same pipeline, more connectors. Point back to the architecture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differentiator to a judging criterion: cross-system = innovation; trustworthy = technical; field-first = UX; agentic compliance = business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tagline. Offer to run the live demo or answer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035040" cy="6035040"/>
          </a:xfrm>
          <a:prstGeom prst="ellipse">
            <a:avLst/>
          </a:prstGeom>
          <a:ln w="12700">
            <a:solidFill>
              <a:srgbClr val="6FA1E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058400" y="-731520"/>
            <a:ext cx="3840480" cy="3840480"/>
          </a:xfrm>
          <a:prstGeom prst="ellipse">
            <a:avLst/>
          </a:prstGeom>
          <a:ln w="12700">
            <a:solidFill>
              <a:srgbClr val="6FA1E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0080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44168" y="67665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66928" y="2148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FA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 UNIFIED REASONING AGENT  ·  PROBLEM 08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25603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Unified Asset &amp;</a:t>
            </a:r>
            <a:endParaRPr lang="en-US" sz="5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Brain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566928" y="44348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1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connects the knowledge scattered across your plant — and surfaces what no single team can see.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66928" y="5806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FA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Working prototype  ·  Knowledge graph  ·  Cited RAG  ·  Agentic compliance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1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Vikas Yadav   ·   Team Viktory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A7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is everywhere. Insight is nowhere.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3441192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12648" y="2286000"/>
            <a:ext cx="3349752" cy="100584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A7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612648" y="3383280"/>
            <a:ext cx="3349752" cy="11887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E0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 engineer's working hours lost searching for, clarifying, or recreating documents that already exist.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4526280"/>
            <a:ext cx="3349752" cy="32004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A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McKinsey global survey, 2024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73880" y="1965960"/>
            <a:ext cx="3441192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419600" y="2286000"/>
            <a:ext cx="3349752" cy="100584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A7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18–22%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4419600" y="3383280"/>
            <a:ext cx="3349752" cy="11887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E0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unplanned downtime in Indian heavy industry traced to knowledge fragmentation.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19600" y="4526280"/>
            <a:ext cx="3349752" cy="32004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A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BIS Research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80832" y="1965960"/>
            <a:ext cx="3441192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6552" y="2286000"/>
            <a:ext cx="3349752" cy="100584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A7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8226552" y="3383280"/>
            <a:ext cx="3349752" cy="11887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E0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experienced engineers retire within a decade — taking undocumented know-how with them.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6552" y="4526280"/>
            <a:ext cx="3349752" cy="32004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A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NASSCOM–EY study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plant runs across </a:t>
            </a:r>
            <a:r>
              <a:rPr lang="en-US" sz="1600" b="1" dirty="0">
                <a:solidFill>
                  <a:srgbClr val="CC8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7–12 disconnected systems</a:t>
            </a:r>
            <a:r>
              <a:rPr lang="en-US" sz="160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The knowledge exists. The connections don't.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EA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A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C8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filing problem. A safety, quality &amp; efficiency problem.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2057400"/>
            <a:ext cx="3441192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41248" y="2377440"/>
            <a:ext cx="457200" cy="457200"/>
          </a:xfrm>
          <a:prstGeom prst="ellipse">
            <a:avLst/>
          </a:prstGeom>
          <a:solidFill>
            <a:srgbClr val="E2E7EB"/>
          </a:solidFill>
          <a:ln w="15240">
            <a:solidFill>
              <a:srgbClr val="CC8B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4871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971800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41248" y="3520440"/>
            <a:ext cx="2892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and operating decisions get made without complete equipment history or failure context — until something leaks, trips, or burns.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73880" y="2057400"/>
            <a:ext cx="3441192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648200" y="2377440"/>
            <a:ext cx="457200" cy="457200"/>
          </a:xfrm>
          <a:prstGeom prst="ellipse">
            <a:avLst/>
          </a:prstGeom>
          <a:solidFill>
            <a:srgbClr val="E2E7EB"/>
          </a:solidFill>
          <a:ln w="15240">
            <a:solidFill>
              <a:srgbClr val="0A78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7928" y="24871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8200" y="2971800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Compliance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648200" y="3520440"/>
            <a:ext cx="2892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investigations and evidence sit scattered across systems. Gaps surface during an audit, not before.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180832" y="2057400"/>
            <a:ext cx="3441192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455152" y="2377440"/>
            <a:ext cx="457200" cy="457200"/>
          </a:xfrm>
          <a:prstGeom prst="ellipse">
            <a:avLst/>
          </a:prstGeom>
          <a:solidFill>
            <a:srgbClr val="E2E7EB"/>
          </a:solidFill>
          <a:ln w="15240">
            <a:solidFill>
              <a:srgbClr val="263B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4880" y="24871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5152" y="2971800"/>
            <a:ext cx="289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455152" y="3520440"/>
            <a:ext cx="2892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failures repeat, the same questions get re-answered, and unplanned downtime compounds over time.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66928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compounds over time — and whoever solves it first gains a structural advantage in how they operate, maintain, and improve their assets.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6692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EA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AURA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A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A7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REAL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pump. Three failures. Five systems. Zero connections.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32688" y="2377440"/>
            <a:ext cx="10323576" cy="0"/>
          </a:xfrm>
          <a:prstGeom prst="line">
            <a:avLst/>
          </a:prstGeom>
          <a:noFill/>
          <a:ln w="19050">
            <a:solidFill>
              <a:srgbClr val="C1C9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641348" y="2286000"/>
            <a:ext cx="182880" cy="182880"/>
          </a:xfrm>
          <a:prstGeom prst="ellipse">
            <a:avLst/>
          </a:prstGeom>
          <a:solidFill>
            <a:srgbClr val="9EA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66928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 2024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0E0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 fails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49140" y="2286000"/>
            <a:ext cx="182880" cy="182880"/>
          </a:xfrm>
          <a:prstGeom prst="ellipse">
            <a:avLst/>
          </a:prstGeom>
          <a:solidFill>
            <a:srgbClr val="9EA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0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 2024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0E0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 fails again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56932" y="2286000"/>
            <a:ext cx="182880" cy="182880"/>
          </a:xfrm>
          <a:prstGeom prst="ellipse">
            <a:avLst/>
          </a:prstGeom>
          <a:solidFill>
            <a:srgbClr val="9EA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82512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 2024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82512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0E0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 fails — 7.1 mm/s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364724" y="2286000"/>
            <a:ext cx="182880" cy="182880"/>
          </a:xfrm>
          <a:prstGeom prst="ellipse">
            <a:avLst/>
          </a:prstGeom>
          <a:solidFill>
            <a:srgbClr val="CC8B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290304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8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 2024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290304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0E0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near-miss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383280"/>
            <a:ext cx="1991563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2648" y="3547872"/>
            <a:ext cx="1900123" cy="2743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" y="3886200"/>
            <a:ext cx="1900123" cy="9144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work orders — each closed as an isolated repair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832811" y="3383280"/>
            <a:ext cx="1991563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878531" y="3547872"/>
            <a:ext cx="1900123" cy="2743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78531" y="3886200"/>
            <a:ext cx="1900123" cy="9144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signature — textbook misalignment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98694" y="3383280"/>
            <a:ext cx="1991563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144414" y="3547872"/>
            <a:ext cx="1900123" cy="2743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A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OEM Manual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44414" y="3886200"/>
            <a:ext cx="1900123" cy="9144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misalignment = #1 cause of repeat failure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364578" y="3383280"/>
            <a:ext cx="1991563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410298" y="3547872"/>
            <a:ext cx="1900123" cy="2743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10298" y="3886200"/>
            <a:ext cx="1900123" cy="9144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engineers diagnosed it — no work order raised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630461" y="3383280"/>
            <a:ext cx="1991563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676181" y="3547872"/>
            <a:ext cx="1900123" cy="2743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8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76181" y="3886200"/>
            <a:ext cx="1900123" cy="9144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root-cause analysis never done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5257800"/>
            <a:ext cx="11055096" cy="868680"/>
          </a:xfrm>
          <a:prstGeom prst="roundRect">
            <a:avLst>
              <a:gd name="adj" fmla="val 9474"/>
            </a:avLst>
          </a:prstGeom>
          <a:solidFill>
            <a:srgbClr val="EAF2FB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41248" y="5257800"/>
            <a:ext cx="10506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clue existed — in a different system. </a:t>
            </a:r>
            <a:r>
              <a:rPr lang="en-US" sz="150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person ever connected them. That is the knowledge cliff, and it is expensive.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6692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EA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A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A7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AURA — unified reasoning across every asset.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ingests every document type, connects them into one self-updating knowledge graph, and answers any question with cited, confidence-scored intelligence — on any device.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2523744" cy="310896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2807208"/>
            <a:ext cx="457200" cy="457200"/>
          </a:xfrm>
          <a:prstGeom prst="ellipse">
            <a:avLst/>
          </a:prstGeom>
          <a:solidFill>
            <a:srgbClr val="E2E7EB"/>
          </a:solidFill>
          <a:ln w="15240">
            <a:solidFill>
              <a:srgbClr val="0A78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91693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29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anything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40690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P&amp;IDs, scanned forms, spreadsheets, email — structured and unstructured.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10712" y="2514600"/>
            <a:ext cx="2523744" cy="310896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666744" y="2807208"/>
            <a:ext cx="457200" cy="457200"/>
          </a:xfrm>
          <a:prstGeom prst="ellipse">
            <a:avLst/>
          </a:prstGeom>
          <a:solidFill>
            <a:srgbClr val="E2E7EB"/>
          </a:solidFill>
          <a:ln w="15240">
            <a:solidFill>
              <a:srgbClr val="0A78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72" y="291693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66744" y="3429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everything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666744" y="40690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knowledge graph linking assets, failures, procedures, regulations and people.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54496" y="2514600"/>
            <a:ext cx="2523744" cy="310896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510528" y="2807208"/>
            <a:ext cx="457200" cy="457200"/>
          </a:xfrm>
          <a:prstGeom prst="ellipse">
            <a:avLst/>
          </a:prstGeom>
          <a:solidFill>
            <a:srgbClr val="E2E7EB"/>
          </a:solidFill>
          <a:ln w="15240">
            <a:solidFill>
              <a:srgbClr val="0A78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2916936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10528" y="3429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with citations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510528" y="40690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 copilot that cites its sources and shows its confidence on every reply.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98280" y="2514600"/>
            <a:ext cx="2523744" cy="310896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9354312" y="2807208"/>
            <a:ext cx="457200" cy="457200"/>
          </a:xfrm>
          <a:prstGeom prst="ellipse">
            <a:avLst/>
          </a:prstGeom>
          <a:solidFill>
            <a:srgbClr val="E2E7EB"/>
          </a:solidFill>
          <a:ln w="15240">
            <a:solidFill>
              <a:srgbClr val="263B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0" y="2916936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54312" y="3429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with agents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354312" y="40690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agents for root-cause, compliance gaps and lessons learned.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6692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EA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AURA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A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A7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why it keeps failing. Get the answer in 3 seconds.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21208" y="1709928"/>
            <a:ext cx="6995160" cy="3924821"/>
          </a:xfrm>
          <a:prstGeom prst="roundRect">
            <a:avLst>
              <a:gd name="adj" fmla="val 2097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deck_ans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55648"/>
            <a:ext cx="6903720" cy="383338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27848" y="1929384"/>
            <a:ext cx="128016" cy="128016"/>
          </a:xfrm>
          <a:prstGeom prst="ellipse">
            <a:avLst/>
          </a:prstGeom>
          <a:solidFill>
            <a:srgbClr val="0A78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183880" y="1828800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4 systems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83880" y="2148840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maintenance, reliability, OEM and email — automatically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927848" y="2843784"/>
            <a:ext cx="128016" cy="128016"/>
          </a:xfrm>
          <a:prstGeom prst="ellipse">
            <a:avLst/>
          </a:prstGeom>
          <a:solidFill>
            <a:srgbClr val="0A78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183880" y="2743200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the real root cause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183880" y="3063240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misalignment, not the seal it kept replacing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27848" y="3758184"/>
            <a:ext cx="128016" cy="128016"/>
          </a:xfrm>
          <a:prstGeom prst="ellipse">
            <a:avLst/>
          </a:prstGeom>
          <a:solidFill>
            <a:srgbClr val="0A78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183880" y="3657600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Cites every claim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183880" y="3977640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is one tap from the answer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927848" y="4672584"/>
            <a:ext cx="128016" cy="128016"/>
          </a:xfrm>
          <a:prstGeom prst="ellipse">
            <a:avLst/>
          </a:prstGeom>
          <a:solidFill>
            <a:srgbClr val="0A78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183880" y="4572000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its confidence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183880" y="4892040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trustworthy, not a black box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6692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EA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A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A7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KNOWLEDGE GRAPH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link the organisation missed — made visible.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293876" y="1554480"/>
            <a:ext cx="9601200" cy="4957763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deck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596" y="1600200"/>
            <a:ext cx="9509760" cy="48663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6649403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hidden root cause and watch it light up the four systems that each held one piece of the puzzle.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EA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A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A7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pipeline. Five layers. Any scale.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8136" y="1280160"/>
            <a:ext cx="10012680" cy="5672137"/>
          </a:xfrm>
          <a:prstGeom prst="roundRect">
            <a:avLst>
              <a:gd name="adj" fmla="val 1451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aura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1325880"/>
            <a:ext cx="9921240" cy="55806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EA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A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A7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EXCELLENCE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engineering, not slideware.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44119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2130552"/>
            <a:ext cx="457200" cy="457200"/>
          </a:xfrm>
          <a:prstGeom prst="ellipse">
            <a:avLst/>
          </a:prstGeom>
          <a:solidFill>
            <a:srgbClr val="E2E7EB"/>
          </a:solidFill>
          <a:ln w="15240">
            <a:solidFill>
              <a:srgbClr val="0A78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4028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2130552"/>
            <a:ext cx="2435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over a heterogeneous corpus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788920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answers across every document type.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73880" y="1874520"/>
            <a:ext cx="344119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611624" y="2130552"/>
            <a:ext cx="457200" cy="457200"/>
          </a:xfrm>
          <a:prstGeom prst="ellipse">
            <a:avLst/>
          </a:prstGeom>
          <a:solidFill>
            <a:srgbClr val="E2E7EB"/>
          </a:solidFill>
          <a:ln w="15240">
            <a:solidFill>
              <a:srgbClr val="0A78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1352" y="224028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6840" y="2130552"/>
            <a:ext cx="2435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 + industrial ontology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11624" y="2788920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and relationships normalised to an asset taxonomy.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80832" y="1874520"/>
            <a:ext cx="344119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418576" y="2130552"/>
            <a:ext cx="457200" cy="457200"/>
          </a:xfrm>
          <a:prstGeom prst="ellipse">
            <a:avLst/>
          </a:prstGeom>
          <a:solidFill>
            <a:srgbClr val="E2E7EB"/>
          </a:solidFill>
          <a:ln w="15240">
            <a:solidFill>
              <a:srgbClr val="263B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8304" y="224028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3792" y="2130552"/>
            <a:ext cx="2435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 + OCR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18576" y="2788920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P&amp;ID parsing, drawing digitisation, structured + unstructured.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66928" y="4023360"/>
            <a:ext cx="344119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804672" y="4279392"/>
            <a:ext cx="457200" cy="457200"/>
          </a:xfrm>
          <a:prstGeom prst="ellipse">
            <a:avLst/>
          </a:prstGeom>
          <a:solidFill>
            <a:srgbClr val="E2E7EB"/>
          </a:solidFill>
          <a:ln w="15240">
            <a:solidFill>
              <a:srgbClr val="263B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38912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89888" y="4279392"/>
            <a:ext cx="2435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4937760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Root-cause, compliance and lessons-learned agents.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73880" y="4023360"/>
            <a:ext cx="344119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4611624" y="4279392"/>
            <a:ext cx="457200" cy="457200"/>
          </a:xfrm>
          <a:prstGeom prst="ellipse">
            <a:avLst/>
          </a:prstGeom>
          <a:solidFill>
            <a:srgbClr val="E2E7EB"/>
          </a:solidFill>
          <a:ln w="15240">
            <a:solidFill>
              <a:srgbClr val="0A78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1352" y="4389120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6840" y="4279392"/>
            <a:ext cx="2435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&amp; confidence-scored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11624" y="4937760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traceable to its originating source.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80832" y="4023360"/>
            <a:ext cx="344119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8418576" y="4279392"/>
            <a:ext cx="457200" cy="457200"/>
          </a:xfrm>
          <a:prstGeom prst="ellipse">
            <a:avLst/>
          </a:prstGeom>
          <a:solidFill>
            <a:srgbClr val="E2E7EB"/>
          </a:solidFill>
          <a:ln w="15240">
            <a:solidFill>
              <a:srgbClr val="CC8B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8304" y="4389120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03792" y="4279392"/>
            <a:ext cx="2435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Self-updating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18576" y="4937760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records flow back into the graph automatically.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66928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A7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is live: it answers any question grounded in the document set — switchable to a fully offline demo mode.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56692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EA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AURA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A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C8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Hours, not weeks. Incidents prevented. Audits passed.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1206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95528" y="19659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7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→ 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578608" y="19659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0E0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repeat failures collapse into one root-cause fix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200400"/>
            <a:ext cx="51206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95528" y="320040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7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78608" y="32004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0E0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near-miss made preventable with a proactive alert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4434840"/>
            <a:ext cx="51206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95528" y="443484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7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78608" y="44348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0E0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evidence pack vs. days of manual assembly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236208" y="1828800"/>
            <a:ext cx="5385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to root-cause a repeat failure (analyst hours, illustrative)</a:t>
            </a:r>
            <a:endParaRPr lang="en-US" sz="11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6236208" y="2286000"/>
          <a:ext cx="5385816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2"/>
          <p:cNvSpPr/>
          <p:nvPr/>
        </p:nvSpPr>
        <p:spPr>
          <a:xfrm>
            <a:off x="56692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EA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A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A7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pipeline, from pilot to enterprise.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315468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12648" y="2560320"/>
            <a:ext cx="3063240" cy="32004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3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PILOT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2648" y="3063240"/>
            <a:ext cx="3063240" cy="82296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docs · 5 systems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12648" y="4023360"/>
            <a:ext cx="3063240" cy="64008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critical asset, proven end-to-end.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77640" y="32004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7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90288" y="2286000"/>
            <a:ext cx="315468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36008" y="2560320"/>
            <a:ext cx="3063240" cy="32004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A7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PLANT-WIDE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6008" y="3063240"/>
            <a:ext cx="3063240" cy="82296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50,000+ docs · 12 systems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36008" y="4023360"/>
            <a:ext cx="3063240" cy="64008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asset across a full site.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01000" y="32004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7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613648" y="2286000"/>
            <a:ext cx="315468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659368" y="2560320"/>
            <a:ext cx="3063240" cy="32004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8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59368" y="3063240"/>
            <a:ext cx="3063240" cy="82296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Multi-site · multi-plant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59368" y="4023360"/>
            <a:ext cx="3063240" cy="64008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brain across the organisation.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5257800"/>
            <a:ext cx="11055096" cy="82296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41248" y="52578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7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connector, not a rebuild.  </a:t>
            </a:r>
            <a:r>
              <a:rPr lang="en-US" sz="150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ingestion → graph → RAG → agent pipeline is identical at every scale.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EA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A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A7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AURA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better search box. A brain that connects the dots.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457200" cy="457200"/>
          </a:xfrm>
          <a:prstGeom prst="ellipse">
            <a:avLst/>
          </a:prstGeom>
          <a:solidFill>
            <a:srgbClr val="E2E7EB"/>
          </a:solidFill>
          <a:ln w="15240">
            <a:solidFill>
              <a:srgbClr val="0A78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1214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2728" y="19659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Cross-system intelligence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252728" y="235915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patterns no single team or tool can see.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3063240"/>
            <a:ext cx="457200" cy="457200"/>
          </a:xfrm>
          <a:prstGeom prst="ellipse">
            <a:avLst/>
          </a:prstGeom>
          <a:solidFill>
            <a:srgbClr val="E2E7EB"/>
          </a:solidFill>
          <a:ln w="15240">
            <a:solidFill>
              <a:srgbClr val="0A78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17296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2728" y="30175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Trustworthy by design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252728" y="341071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Citations, confidence scores and a full audit trail.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66928" y="4114800"/>
            <a:ext cx="457200" cy="457200"/>
          </a:xfrm>
          <a:prstGeom prst="ellipse">
            <a:avLst/>
          </a:prstGeom>
          <a:solidFill>
            <a:srgbClr val="E2E7EB"/>
          </a:solidFill>
          <a:ln w="15240">
            <a:solidFill>
              <a:srgbClr val="263B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422452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52728" y="40690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Field-first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252728" y="446227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technicians on the floor — not just desktops.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66928" y="5166360"/>
            <a:ext cx="457200" cy="457200"/>
          </a:xfrm>
          <a:prstGeom prst="ellipse">
            <a:avLst/>
          </a:prstGeom>
          <a:solidFill>
            <a:srgbClr val="E2E7EB"/>
          </a:solidFill>
          <a:ln w="15240">
            <a:solidFill>
              <a:srgbClr val="CC8B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527608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52728" y="5120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3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compliance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252728" y="551383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3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gaps and assembles audit evidence.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8878824" y="1737360"/>
            <a:ext cx="2423160" cy="466344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C1C9D1"/>
            </a:solidFill>
            <a:prstDash val="solid"/>
          </a:ln>
          <a:effectLst>
            <a:outerShdw blurRad="88900" dist="25400" dir="5400000" algn="bl" rotWithShape="0">
              <a:srgbClr val="263B5F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4" descr="deck_mobil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924544" y="1783080"/>
            <a:ext cx="2331720" cy="45720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467344" y="64190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A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the field, on a phone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6692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EA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AURA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A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3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2743200"/>
            <a:ext cx="6035040" cy="6035040"/>
          </a:xfrm>
          <a:prstGeom prst="ellipse">
            <a:avLst/>
          </a:prstGeom>
          <a:ln w="12700">
            <a:solidFill>
              <a:srgbClr val="6FA1E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116" y="155448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78892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0" y="34747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F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reasoning across every asset.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0" y="42062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C1C9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Industrial Knowledge Intelligence  ·  Problem 08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0" y="51206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1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Vikas Yadav   ·   Team Viktory   ·   6393214420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1238</Words>
  <Application>Microsoft Office PowerPoint</Application>
  <PresentationFormat>Custom</PresentationFormat>
  <Paragraphs>176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 — Asset Unified Reasoning Agent</dc:title>
  <dc:subject>PptxGenJS Presentation</dc:subject>
  <dc:creator>AURA</dc:creator>
  <cp:lastModifiedBy>Vikas Yadav</cp:lastModifiedBy>
  <cp:revision>2</cp:revision>
  <dcterms:created xsi:type="dcterms:W3CDTF">2026-06-30T14:52:37Z</dcterms:created>
  <dcterms:modified xsi:type="dcterms:W3CDTF">2026-06-30T14:58:51Z</dcterms:modified>
</cp:coreProperties>
</file>